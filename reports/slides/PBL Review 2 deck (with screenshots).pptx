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embeddedFontLst>
    <p:embeddedFont>
      <p:font typeface="Gelasio SemiBold"/>
      <p:regular r:id="rId16"/>
      <p:bold r:id="rId17"/>
      <p:italic r:id="rId18"/>
      <p:boldItalic r:id="rId19"/>
    </p:embeddedFont>
    <p:embeddedFont>
      <p:font typeface="Inter Tight"/>
      <p:regular r:id="rId20"/>
      <p:bold r:id="rId21"/>
      <p:italic r:id="rId22"/>
      <p:boldItalic r:id="rId23"/>
    </p:embeddedFont>
    <p:embeddedFont>
      <p:font typeface="Inter Tight SemiBold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7E152F-0472-42E3-A48F-8F4D75BD7B4F}">
  <a:tblStyle styleId="{587E152F-0472-42E3-A48F-8F4D75BD7B4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GelasioSemiBold-regular.fntdata"/><Relationship Id="rId17" Type="http://schemas.openxmlformats.org/officeDocument/2006/relationships/font" Target="fonts/GelasioSemiBold-bold.fntdata"/><Relationship Id="rId18" Type="http://schemas.openxmlformats.org/officeDocument/2006/relationships/font" Target="fonts/GelasioSemiBold-italic.fntdata"/><Relationship Id="rId19" Type="http://schemas.openxmlformats.org/officeDocument/2006/relationships/font" Target="fonts/GelasioSemiBold-boldItalic.fntdata"/><Relationship Id="rId20" Type="http://schemas.openxmlformats.org/officeDocument/2006/relationships/font" Target="fonts/InterTight-regular.fntdata"/><Relationship Id="rId21" Type="http://schemas.openxmlformats.org/officeDocument/2006/relationships/font" Target="fonts/InterTight-bold.fntdata"/><Relationship Id="rId22" Type="http://schemas.openxmlformats.org/officeDocument/2006/relationships/font" Target="fonts/InterTight-italic.fntdata"/><Relationship Id="rId23" Type="http://schemas.openxmlformats.org/officeDocument/2006/relationships/font" Target="fonts/InterTight-boldItalic.fntdata"/><Relationship Id="rId24" Type="http://schemas.openxmlformats.org/officeDocument/2006/relationships/font" Target="fonts/InterTightSemiBold-regular.fntdata"/><Relationship Id="rId25" Type="http://schemas.openxmlformats.org/officeDocument/2006/relationships/font" Target="fonts/InterTightSemiBold-bold.fntdata"/><Relationship Id="rId26" Type="http://schemas.openxmlformats.org/officeDocument/2006/relationships/font" Target="fonts/InterTightSemiBold-italic.fntdata"/><Relationship Id="rId27" Type="http://schemas.openxmlformats.org/officeDocument/2006/relationships/font" Target="fonts/InterTightSemiBold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prototype is partly wired: the dashboard is live, while four other screens are not yet. The API has 33 endpoints, JWT auth and a role guard on every route; the database work is complete.</a:t>
            </a:r>
            <a:endParaRPr/>
          </a:p>
        </p:txBody>
      </p:sp>
      <p:sp>
        <p:nvSpPr>
          <p:cNvPr id="19" name="Google Shape;1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key architectural decision is the Vite proxy: the browser only sees one origin, which removes CORS configuration entirely. This is the development setup and the app has not been deployed; production would preserve the same effect by serving built assets behind, or alongside, the API.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dependency earns its place, and two deliberate rejections keep the stack smaller. There is no Redux: one React context plus local state covers the app.</a:t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deliberately not the default framework look: no Inter, no blue and no decorative gradients. The interesting constraint is that mid-tone surfaces must preserve both sides of the shadow pair. Both themes are implemented, and reduced motion disables animation.</a:t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composition rule is simple: pages own data and components take props. That separation is why the dashboard could swap fixtures for live API data without touching a single chart.</a:t>
            </a:r>
            <a:endParaRPr/>
          </a:p>
        </p:txBody>
      </p:sp>
      <p:sp>
        <p:nvSpPr>
          <p:cNvPr id="78" name="Google Shape;7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route guard is a user-experience boundary, not the security boundary. Every API endpoint is guarded server-side. I would also volunteer the two weaknesses: localStorage exposes the JWT to XSS, and a network failure at /auth/me looks like sign-out until the API returns.</a:t>
            </a:r>
            <a:endParaRPr/>
          </a:p>
        </p:txBody>
      </p:sp>
      <p:sp>
        <p:nvSpPr>
          <p:cNvPr id="92" name="Google Shape;9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dashboard is the live screen and fires seven report requests in parallel. The other four screens remain fixture-backed because their required endpoints do not exist yet. Loading, error and empty are all explicit states.</a:t>
            </a:r>
            <a:endParaRPr/>
          </a:p>
        </p:txBody>
      </p:sp>
      <p:sp>
        <p:nvSpPr>
          <p:cNvPr id="109" name="Google Shape;10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only database slide. The frontend depends on business rules reaching it as HTTP status codes: 409, 422, 401 and 403. All five checks matched on a fresh run, but the job-card toast is still a fixture simulation; the real 409 is visible in Swagger at /docs.</a:t>
            </a:r>
            <a:endParaRPr/>
          </a:p>
        </p:txBody>
      </p:sp>
      <p:sp>
        <p:nvSpPr>
          <p:cNvPr id="127" name="Google Shape;1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Step 6 is the API, not the UI, because the assignment screen does not exist yet. The runbook demonstrates role-aware navigation, the client guard, live dashboard data, dark mode and the real 409 response in Swagger.</a:t>
            </a:r>
            <a:endParaRPr/>
          </a:p>
        </p:txBody>
      </p:sp>
      <p:sp>
        <p:nvSpPr>
          <p:cNvPr id="144" name="Google Shape;1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two bugs show understanding of React's model: mode="wait" delayed mounting, while key={id} already remounted the component. The gaps are explicit, and Review 3 is about wiring the remaining screens, the missing screens, code splitting and tests. The question I would like you to test is whether the interface can be trusted to show only what each role is allowed to see.</a:t>
            </a:r>
            <a:endParaRPr/>
          </a:p>
        </p:txBody>
      </p:sp>
      <p:sp>
        <p:nvSpPr>
          <p:cNvPr id="161" name="Google Shape;1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F6F3EC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6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" name="Google Shape;12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2">
  <p:cSld name="Slide master 2">
    <p:bg>
      <p:bgPr>
        <a:solidFill>
          <a:srgbClr val="F6F3EC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" name="Google Shape;14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533400" y="419100"/>
            <a:ext cx="8534400" cy="1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Inter Tight SemiBold"/>
              <a:buNone/>
            </a:pPr>
            <a:r>
              <a:rPr b="0" i="0" lang="en-US" sz="700" u="none" cap="none" strike="noStrike">
                <a:solidFill>
                  <a:srgbClr val="FFFFFF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REVIEW 2 · THE PROTOTYPE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5"/>
          <p:cNvSpPr/>
          <p:nvPr/>
        </p:nvSpPr>
        <p:spPr>
          <a:xfrm>
            <a:off x="533400" y="570533"/>
            <a:ext cx="8077200" cy="341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lasio SemiBold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A working web app on a working API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5"/>
          <p:cNvSpPr/>
          <p:nvPr/>
        </p:nvSpPr>
        <p:spPr>
          <a:xfrm>
            <a:off x="533400" y="1055936"/>
            <a:ext cx="171450" cy="42863"/>
          </a:xfrm>
          <a:prstGeom prst="roundRect">
            <a:avLst>
              <a:gd fmla="val 49999" name="adj"/>
            </a:avLst>
          </a:prstGeom>
          <a:solidFill>
            <a:srgbClr val="C467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" name="Google Shape;24;p5"/>
          <p:cNvGraphicFramePr/>
          <p:nvPr/>
        </p:nvGraphicFramePr>
        <p:xfrm>
          <a:off x="533400" y="1230957"/>
          <a:ext cx="3000000" cy="912550"/>
        </p:xfrm>
        <a:graphic>
          <a:graphicData uri="http://schemas.openxmlformats.org/drawingml/2006/table">
            <a:tbl>
              <a:tblPr>
                <a:noFill/>
                <a:tableStyleId>{587E152F-0472-42E3-A48F-8F4D75BD7B4F}</a:tableStyleId>
              </a:tblPr>
              <a:tblGrid>
                <a:gridCol w="4038600"/>
                <a:gridCol w="4038600"/>
              </a:tblGrid>
              <a:tr h="30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Frontend prototype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1B26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B26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26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RUNNING · 7 routes, 4 roles, 1 of 5 screens on live data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1B26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B26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1B263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8"/>
                    </a:solidFill>
                  </a:tcPr>
                </a:tc>
              </a:tr>
              <a:tr h="30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API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1B26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B26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33 endpoints, JWT auth, role guard on every route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1B26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B26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8"/>
                    </a:solidFill>
                  </a:tcPr>
                </a:tc>
              </a:tr>
              <a:tr h="30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Database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1B26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B26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B26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FFFFFF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MongoDB · schema, scripts, sample data, queries done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1B263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1B263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1B263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638"/>
                    </a:solidFill>
                  </a:tcPr>
                </a:tc>
              </a:tr>
            </a:tbl>
          </a:graphicData>
        </a:graphic>
      </p:graphicFrame>
      <p:sp>
        <p:nvSpPr>
          <p:cNvPr id="25" name="Google Shape;25;p5"/>
          <p:cNvSpPr/>
          <p:nvPr/>
        </p:nvSpPr>
        <p:spPr>
          <a:xfrm>
            <a:off x="533400" y="4044404"/>
            <a:ext cx="8077200" cy="679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Gelasio SemiBold"/>
              <a:buNone/>
            </a:pPr>
            <a:r>
              <a:rPr b="0" i="0" lang="en-US" sz="2500" u="none" cap="none" strike="noStrike">
                <a:solidFill>
                  <a:srgbClr val="FFFFFF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3,419 lines · 16 components · 7 routes · 14 runtime dependencies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>
            <a:off x="381000" y="381000"/>
            <a:ext cx="8763000" cy="1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700"/>
              <a:buFont typeface="Inter Tight SemiBold"/>
              <a:buNone/>
            </a:pPr>
            <a:r>
              <a:rPr b="0" i="0" lang="en-US" sz="700" u="none" cap="none" strike="noStrike">
                <a:solidFill>
                  <a:srgbClr val="1B2638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HOW THE PIECES FIT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6"/>
          <p:cNvSpPr/>
          <p:nvPr/>
        </p:nvSpPr>
        <p:spPr>
          <a:xfrm>
            <a:off x="381000" y="532433"/>
            <a:ext cx="8382000" cy="341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2350"/>
              <a:buFont typeface="Gelasio SemiBold"/>
              <a:buNone/>
            </a:pPr>
            <a:r>
              <a:rPr b="0" i="0" lang="en-US" sz="2350" u="none" cap="none" strike="noStrike">
                <a:solidFill>
                  <a:srgbClr val="1B263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One origin, no CORS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381000" y="1017836"/>
            <a:ext cx="8381926" cy="14288"/>
          </a:xfrm>
          <a:prstGeom prst="roundRect">
            <a:avLst>
              <a:gd fmla="val 49998" name="adj"/>
            </a:avLst>
          </a:prstGeom>
          <a:solidFill>
            <a:srgbClr val="CEC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/>
          <p:nvPr/>
        </p:nvSpPr>
        <p:spPr>
          <a:xfrm>
            <a:off x="381000" y="1164282"/>
            <a:ext cx="2641550" cy="1122164"/>
          </a:xfrm>
          <a:prstGeom prst="roundRect">
            <a:avLst>
              <a:gd fmla="val 764" name="adj"/>
            </a:avLst>
          </a:prstGeom>
          <a:noFill/>
          <a:ln cap="flat" cmpd="sng" w="14275">
            <a:solidFill>
              <a:srgbClr val="D1CC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566738" y="1350020"/>
            <a:ext cx="2270075" cy="217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1400"/>
              <a:buFont typeface="Gelasio SemiBold"/>
              <a:buNone/>
            </a:pPr>
            <a:r>
              <a:rPr b="0" i="0" lang="en-US" sz="1400" u="none" cap="none" strike="noStrike">
                <a:solidFill>
                  <a:srgbClr val="1B263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Browser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566738" y="1645741"/>
            <a:ext cx="2270075" cy="450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→ React SPA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Vite dev server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:5173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3251150" y="1164282"/>
            <a:ext cx="2641625" cy="1122164"/>
          </a:xfrm>
          <a:prstGeom prst="roundRect">
            <a:avLst>
              <a:gd fmla="val 764" name="adj"/>
            </a:avLst>
          </a:prstGeom>
          <a:noFill/>
          <a:ln cap="flat" cmpd="sng" w="14275">
            <a:solidFill>
              <a:srgbClr val="D1CC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/>
          <p:nvPr/>
        </p:nvSpPr>
        <p:spPr>
          <a:xfrm>
            <a:off x="3436888" y="1350020"/>
            <a:ext cx="2270150" cy="217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1400"/>
              <a:buFont typeface="Gelasio SemiBold"/>
              <a:buNone/>
            </a:pPr>
            <a:r>
              <a:rPr b="0" i="0" lang="en-US" sz="1400" u="none" cap="none" strike="noStrike">
                <a:solidFill>
                  <a:srgbClr val="1B263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FastAPI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3436888" y="1645741"/>
            <a:ext cx="2270150" cy="4549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fetch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/api/*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↓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:8000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· pure JSON 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6121375" y="1164282"/>
            <a:ext cx="2641625" cy="1122164"/>
          </a:xfrm>
          <a:prstGeom prst="roundRect">
            <a:avLst>
              <a:gd fmla="val 764" name="adj"/>
            </a:avLst>
          </a:prstGeom>
          <a:noFill/>
          <a:ln cap="flat" cmpd="sng" w="14275">
            <a:solidFill>
              <a:srgbClr val="D1CC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6"/>
          <p:cNvSpPr/>
          <p:nvPr/>
        </p:nvSpPr>
        <p:spPr>
          <a:xfrm>
            <a:off x="6307113" y="1350020"/>
            <a:ext cx="2270150" cy="217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1400"/>
              <a:buFont typeface="Gelasio SemiBold"/>
              <a:buNone/>
            </a:pPr>
            <a:r>
              <a:rPr b="0" i="0" lang="en-US" sz="1400" u="none" cap="none" strike="noStrike">
                <a:solidFill>
                  <a:srgbClr val="1B263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MongoDB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6307113" y="1645741"/>
            <a:ext cx="2455887" cy="1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replica set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rs0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381000" y="2384078"/>
            <a:ext cx="8382000" cy="8504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Vite proxies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/api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to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:8000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, so the browser sees one origin.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There is no CORS middleware anywhere; FastAPI serves only JSON and its own Swagger docs.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Development setup only: production would serve built assets behind, or alongside, the API.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Build: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tsc -b &amp;&amp; vite build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; a TypeScript error fails the build.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0" y="4857750"/>
            <a:ext cx="9144000" cy="7144"/>
          </a:xfrm>
          <a:prstGeom prst="rect">
            <a:avLst/>
          </a:prstGeom>
          <a:solidFill>
            <a:srgbClr val="2F343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>
            <a:off x="3419698" y="4938192"/>
            <a:ext cx="2761804" cy="12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700"/>
              <a:buFont typeface="Inter Tight"/>
              <a:buNone/>
            </a:pPr>
            <a:r>
              <a:rPr b="0" i="0" lang="en-US" sz="7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REVIEW 1 WAS THE DESIGN. THIS IS THE BUILD.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08678" y="4938192"/>
            <a:ext cx="435322" cy="12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700"/>
              <a:buFont typeface="Inter Tight"/>
              <a:buNone/>
            </a:pPr>
            <a:r>
              <a:rPr b="0" i="0" lang="en-US" sz="7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2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/>
          <p:nvPr/>
        </p:nvSpPr>
        <p:spPr>
          <a:xfrm>
            <a:off x="381000" y="381000"/>
            <a:ext cx="8763000" cy="1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700"/>
              <a:buFont typeface="Inter Tight SemiBold"/>
              <a:buNone/>
            </a:pPr>
            <a:r>
              <a:rPr b="0" i="0" lang="en-US" sz="700" u="none" cap="none" strike="noStrike">
                <a:solidFill>
                  <a:srgbClr val="1B2638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FRAMEWORK CHOICES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7"/>
          <p:cNvSpPr/>
          <p:nvPr/>
        </p:nvSpPr>
        <p:spPr>
          <a:xfrm>
            <a:off x="381000" y="532433"/>
            <a:ext cx="8382000" cy="341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2400"/>
              <a:buFont typeface="Gelasio SemiBold"/>
              <a:buNone/>
            </a:pPr>
            <a:r>
              <a:rPr b="0" i="0" lang="en-US" sz="2400" u="none" cap="none" strike="noStrike">
                <a:solidFill>
                  <a:srgbClr val="1B263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Fourteen dependencies, each earning its place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7"/>
          <p:cNvSpPr/>
          <p:nvPr/>
        </p:nvSpPr>
        <p:spPr>
          <a:xfrm>
            <a:off x="381000" y="1017836"/>
            <a:ext cx="8381926" cy="14288"/>
          </a:xfrm>
          <a:prstGeom prst="roundRect">
            <a:avLst>
              <a:gd fmla="val 49998" name="adj"/>
            </a:avLst>
          </a:prstGeom>
          <a:solidFill>
            <a:srgbClr val="CEC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55" name="Google Shape;55;p7"/>
          <p:cNvGraphicFramePr/>
          <p:nvPr/>
        </p:nvGraphicFramePr>
        <p:xfrm>
          <a:off x="381000" y="1164282"/>
          <a:ext cx="3000000" cy="2211025"/>
        </p:xfrm>
        <a:graphic>
          <a:graphicData uri="http://schemas.openxmlformats.org/drawingml/2006/table">
            <a:tbl>
              <a:tblPr>
                <a:noFill/>
                <a:tableStyleId>{587E152F-0472-42E3-A48F-8F4D75BD7B4F}</a:tableStyleId>
              </a:tblPr>
              <a:tblGrid>
                <a:gridCol w="4191000"/>
                <a:gridCol w="4191000"/>
              </a:tblGrid>
              <a:tr h="49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React 19.2 + TypeScript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component model; types catch prop and API-shape mistakes at build time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Vite 8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dev server with HMR; production build in ~270 ms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Tailwind CSS 4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utility-first; design system is CSS custom properties, not a config file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React Router 7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client-side routing with nested layout routes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Framer Motion · Radix UI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animation · accessible primitives: dialog, label, slot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Lenis · lucide-react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smooth scroll, landing page only · one icon set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" name="Google Shape;56;p7"/>
          <p:cNvSpPr/>
          <p:nvPr/>
        </p:nvSpPr>
        <p:spPr>
          <a:xfrm>
            <a:off x="381000" y="3472904"/>
            <a:ext cx="8382000" cy="624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Dropped a second icon library: every icon existed in lucide-react; two sets were not worth ~500 KB.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Dropped a WebGL shader library: one button was rebuilt with Framer Motion at zero dependency cost.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No Redux or state library: one React context plus local state covers everything.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0" y="4857750"/>
            <a:ext cx="9144000" cy="7144"/>
          </a:xfrm>
          <a:prstGeom prst="rect">
            <a:avLst/>
          </a:prstGeom>
          <a:solidFill>
            <a:srgbClr val="2F343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3419698" y="4938192"/>
            <a:ext cx="2761804" cy="12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700"/>
              <a:buFont typeface="Inter Tight"/>
              <a:buNone/>
            </a:pPr>
            <a:r>
              <a:rPr b="0" i="0" lang="en-US" sz="7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REVIEW 1 WAS THE DESIGN. THIS IS THE BUILD.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7"/>
          <p:cNvSpPr/>
          <p:nvPr/>
        </p:nvSpPr>
        <p:spPr>
          <a:xfrm>
            <a:off x="8708678" y="4938192"/>
            <a:ext cx="435322" cy="12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700"/>
              <a:buFont typeface="Inter Tight"/>
              <a:buNone/>
            </a:pPr>
            <a:r>
              <a:rPr b="0" i="0" lang="en-US" sz="7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3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/>
          <p:nvPr/>
        </p:nvSpPr>
        <p:spPr>
          <a:xfrm>
            <a:off x="381000" y="381000"/>
            <a:ext cx="8763000" cy="1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700"/>
              <a:buFont typeface="Inter Tight SemiBold"/>
              <a:buNone/>
            </a:pPr>
            <a:r>
              <a:rPr b="0" i="0" lang="en-US" sz="700" u="none" cap="none" strike="noStrike">
                <a:solidFill>
                  <a:srgbClr val="1B2638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INTERFACE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381000" y="532433"/>
            <a:ext cx="8382000" cy="341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2400"/>
              <a:buFont typeface="Gelasio SemiBold"/>
              <a:buNone/>
            </a:pPr>
            <a:r>
              <a:rPr b="0" i="0" lang="en-US" sz="2400" u="none" cap="none" strike="noStrike">
                <a:solidFill>
                  <a:srgbClr val="1B263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Warm-neutral neomorphism, built from tokens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8"/>
          <p:cNvSpPr/>
          <p:nvPr/>
        </p:nvSpPr>
        <p:spPr>
          <a:xfrm>
            <a:off x="381000" y="1017836"/>
            <a:ext cx="8381926" cy="14288"/>
          </a:xfrm>
          <a:prstGeom prst="roundRect">
            <a:avLst>
              <a:gd fmla="val 49998" name="adj"/>
            </a:avLst>
          </a:prstGeom>
          <a:solidFill>
            <a:srgbClr val="CEC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8"/>
          <p:cNvSpPr/>
          <p:nvPr/>
        </p:nvSpPr>
        <p:spPr>
          <a:xfrm>
            <a:off x="381000" y="1164282"/>
            <a:ext cx="4076700" cy="900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Montserrat for text · JetBrains Mono for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Bone and clay palette · 66 CSS custom properties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.neo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raised ·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.neo-sm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subtler ·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.neo-inset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pressed ·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.neo-flat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barely raised ·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.neo-press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swaps on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:active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·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.shimmer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loading skeleton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381000" y="2162324"/>
            <a:ext cx="4078224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Surfaces stay mid-tone: neomorphism needs a highlight and a shadow; pure white kills the effect.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Paper grain sits on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body::before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only, behind controls.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Dark mode re-declares tokens under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.dark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and inverts the shadow pair; both themes are implemented.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Consolas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prefers-reduced-motion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disables animation.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0" y="4857750"/>
            <a:ext cx="9144000" cy="7144"/>
          </a:xfrm>
          <a:prstGeom prst="rect">
            <a:avLst/>
          </a:prstGeom>
          <a:solidFill>
            <a:srgbClr val="2F343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3419698" y="4938192"/>
            <a:ext cx="2761804" cy="12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700"/>
              <a:buFont typeface="Inter Tight"/>
              <a:buNone/>
            </a:pPr>
            <a:r>
              <a:rPr b="0" i="0" lang="en-US" sz="7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REVIEW 1 WAS THE DESIGN. THIS IS THE BUILD.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8708678" y="4938192"/>
            <a:ext cx="435322" cy="12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700"/>
              <a:buFont typeface="Inter Tight"/>
              <a:buNone/>
            </a:pPr>
            <a:r>
              <a:rPr b="0" i="0" lang="en-US" sz="7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4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Picture 74" descr="s04-light-dar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161288"/>
            <a:ext cx="4078224" cy="2873294"/>
          </a:xfrm>
          <a:prstGeom prst="rect">
            <a:avLst/>
          </a:prstGeom>
          <a:ln w="9525">
            <a:solidFill>
              <a:srgbClr val="8B6A4E"/>
            </a:solidFill>
          </a:ln>
        </p:spPr>
      </p:pic>
      <p:sp>
        <p:nvSpPr>
          <p:cNvPr id="65" name="screenshot caption"/>
          <p:cNvSpPr/>
          <p:nvPr/>
        </p:nvSpPr>
        <p:spPr>
          <a:xfrm>
            <a:off x="4681728" y="4107733"/>
            <a:ext cx="4078224" cy="1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700"/>
              <a:buFont typeface="Inter Tight SemiBold"/>
              <a:buNone/>
            </a:pPr>
            <a:r>
              <a:rPr b="0" i="0" lang="en-US" sz="700" u="none" cap="none" strike="noStrike">
                <a:solidFill>
                  <a:srgbClr val="1B2638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SAME SCREEN · LIGHT LEFT, DARK RIGHT · TOKENS RE-DECLARED UNDER .DARK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/>
          <p:nvPr/>
        </p:nvSpPr>
        <p:spPr>
          <a:xfrm>
            <a:off x="381000" y="381000"/>
            <a:ext cx="8763000" cy="1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700"/>
              <a:buFont typeface="Inter Tight SemiBold"/>
              <a:buNone/>
            </a:pPr>
            <a:r>
              <a:rPr b="0" i="0" lang="en-US" sz="700" u="none" cap="none" strike="noStrike">
                <a:solidFill>
                  <a:srgbClr val="1B2638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STRUCTURE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381000" y="532433"/>
            <a:ext cx="8382000" cy="341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2400"/>
              <a:buFont typeface="Gelasio SemiBold"/>
              <a:buNone/>
            </a:pPr>
            <a:r>
              <a:rPr b="0" i="0" lang="en-US" sz="2400" u="none" cap="none" strike="noStrike">
                <a:solidFill>
                  <a:srgbClr val="1B263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Pages own data; components take props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381000" y="1017836"/>
            <a:ext cx="8381926" cy="14288"/>
          </a:xfrm>
          <a:prstGeom prst="roundRect">
            <a:avLst>
              <a:gd fmla="val 49998" name="adj"/>
            </a:avLst>
          </a:prstGeom>
          <a:solidFill>
            <a:srgbClr val="CEC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381000" y="1164282"/>
            <a:ext cx="8763000" cy="1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16 components: 14 presentational in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components/ui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, plus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AppShell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and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ProtectedRoute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. 7 page components.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4" name="Google Shape;84;p9"/>
          <p:cNvGraphicFramePr/>
          <p:nvPr/>
        </p:nvGraphicFramePr>
        <p:xfrm>
          <a:off x="381000" y="1457251"/>
          <a:ext cx="3000000" cy="1237350"/>
        </p:xfrm>
        <a:graphic>
          <a:graphicData uri="http://schemas.openxmlformats.org/drawingml/2006/table">
            <a:tbl>
              <a:tblPr>
                <a:noFill/>
                <a:tableStyleId>{587E152F-0472-42E3-A48F-8F4D75BD7B4F}</a:tableStyleId>
              </a:tblPr>
              <a:tblGrid>
                <a:gridCol w="4191000"/>
                <a:gridCol w="4191000"/>
              </a:tblGrid>
              <a:tr h="31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 · </a:t>
                      </a: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/auth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public · landing; sign in / register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/app</a:t>
                      </a: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 · </a:t>
                      </a: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/app/dashboard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signed in · my garage; staff · reports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/app/bookings</a:t>
                      </a: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 · </a:t>
                      </a: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/app/jobs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staff · calendar; workshop · job cards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Consolas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/app/invoice</a:t>
                      </a:r>
                      <a:endParaRPr sz="11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signed in · payment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5" name="Google Shape;85;p9"/>
          <p:cNvSpPr/>
          <p:nvPr/>
        </p:nvSpPr>
        <p:spPr>
          <a:xfrm>
            <a:off x="381000" y="2792239"/>
            <a:ext cx="8382000" cy="628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7 routes use nested layout routes.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Components never fetch on their own; the reports panel receives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&lt;ReportsBento data={data} /&gt;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Pages fetch data, so fixtures could become live API data without touching a chart.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0" y="4857750"/>
            <a:ext cx="9144000" cy="7144"/>
          </a:xfrm>
          <a:prstGeom prst="rect">
            <a:avLst/>
          </a:prstGeom>
          <a:solidFill>
            <a:srgbClr val="2F343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"/>
          <p:cNvSpPr/>
          <p:nvPr/>
        </p:nvSpPr>
        <p:spPr>
          <a:xfrm>
            <a:off x="3419698" y="4938192"/>
            <a:ext cx="2761804" cy="12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700"/>
              <a:buFont typeface="Inter Tight"/>
              <a:buNone/>
            </a:pPr>
            <a:r>
              <a:rPr b="0" i="0" lang="en-US" sz="7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REVIEW 1 WAS THE DESIGN. THIS IS THE BUILD.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8708678" y="4938192"/>
            <a:ext cx="435322" cy="12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700"/>
              <a:buFont typeface="Inter Tight"/>
              <a:buNone/>
            </a:pPr>
            <a:r>
              <a:rPr b="0" i="0" lang="en-US" sz="7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5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"/>
          <p:cNvSpPr/>
          <p:nvPr/>
        </p:nvSpPr>
        <p:spPr>
          <a:xfrm>
            <a:off x="381000" y="381000"/>
            <a:ext cx="8763000" cy="1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700"/>
              <a:buFont typeface="Inter Tight SemiBold"/>
              <a:buNone/>
            </a:pPr>
            <a:r>
              <a:rPr b="0" i="0" lang="en-US" sz="700" u="none" cap="none" strike="noStrike">
                <a:solidFill>
                  <a:srgbClr val="1B2638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SECURITY · THE CLIENT SIDE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0"/>
          <p:cNvSpPr/>
          <p:nvPr/>
        </p:nvSpPr>
        <p:spPr>
          <a:xfrm>
            <a:off x="381000" y="532433"/>
            <a:ext cx="8382000" cy="341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2400"/>
              <a:buFont typeface="Gelasio SemiBold"/>
              <a:buNone/>
            </a:pPr>
            <a:r>
              <a:rPr b="0" i="0" lang="en-US" sz="2400" u="none" cap="none" strike="noStrike">
                <a:solidFill>
                  <a:srgbClr val="1B263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The route guard is not the security boundary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381000" y="1017836"/>
            <a:ext cx="8381926" cy="14288"/>
          </a:xfrm>
          <a:prstGeom prst="roundRect">
            <a:avLst>
              <a:gd fmla="val 49998" name="adj"/>
            </a:avLst>
          </a:prstGeom>
          <a:solidFill>
            <a:srgbClr val="CEC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0"/>
          <p:cNvSpPr/>
          <p:nvPr/>
        </p:nvSpPr>
        <p:spPr>
          <a:xfrm>
            <a:off x="381000" y="1164282"/>
            <a:ext cx="8382000" cy="1050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Sign in →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POST /api/auth/login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returns a JWT and the user.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Store it in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localStorage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under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autocare.token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; it expires in 12 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api()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attaches a bearer header and clears it on a 401.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AuthProvider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calls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/auth/me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on load;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ProtectedRoute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redirects to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/auth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, remembers the destination, or shows “not available to your role”.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381000" y="2312417"/>
            <a:ext cx="8763000" cy="190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Roles: customer · receptionist · mechanic · manager. Customer sees two links; manager sees five.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381000" y="2600623"/>
            <a:ext cx="8382000" cy="726430"/>
          </a:xfrm>
          <a:prstGeom prst="roundRect">
            <a:avLst>
              <a:gd fmla="val 1180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0" name="Google Shape;1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113" y="2795290"/>
            <a:ext cx="172641" cy="138113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/>
          <p:nvPr/>
        </p:nvSpPr>
        <p:spPr>
          <a:xfrm>
            <a:off x="829866" y="2773263"/>
            <a:ext cx="7795022" cy="3811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 Tight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Hiding a route protects nothing. The API checks role on every endpoint and ownership on customer reads: another customer's job card gets the same 404 as a missing one.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381000" y="3424684"/>
            <a:ext cx="8382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Fixed: role was checked but ownership was not, so a customer could read anyone's job card. Now 404, covered by 7 tests.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Weakness: JWT in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localStorage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is exposed to XSS; an httpOnly cookie would not be.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Weakness: any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/auth/me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failure reads as “signed out”; the token survives and reload restores the session.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0" y="4857750"/>
            <a:ext cx="9144000" cy="7144"/>
          </a:xfrm>
          <a:prstGeom prst="rect">
            <a:avLst/>
          </a:prstGeom>
          <a:solidFill>
            <a:srgbClr val="2F343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0"/>
          <p:cNvSpPr/>
          <p:nvPr/>
        </p:nvSpPr>
        <p:spPr>
          <a:xfrm>
            <a:off x="3419698" y="4938192"/>
            <a:ext cx="2761804" cy="12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700"/>
              <a:buFont typeface="Inter Tight"/>
              <a:buNone/>
            </a:pPr>
            <a:r>
              <a:rPr b="0" i="0" lang="en-US" sz="7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REVIEW 1 WAS THE DESIGN. THIS IS THE BUILD.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0"/>
          <p:cNvSpPr/>
          <p:nvPr/>
        </p:nvSpPr>
        <p:spPr>
          <a:xfrm>
            <a:off x="8708678" y="4938192"/>
            <a:ext cx="435322" cy="12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700"/>
              <a:buFont typeface="Inter Tight"/>
              <a:buNone/>
            </a:pPr>
            <a:r>
              <a:rPr b="0" i="0" lang="en-US" sz="7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>
            <a:off x="381000" y="381000"/>
            <a:ext cx="8763000" cy="1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700"/>
              <a:buFont typeface="Inter Tight SemiBold"/>
              <a:buNone/>
            </a:pPr>
            <a:r>
              <a:rPr b="0" i="0" lang="en-US" sz="700" u="none" cap="none" strike="noStrike">
                <a:solidFill>
                  <a:srgbClr val="1B2638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DATA FETCHING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381000" y="532433"/>
            <a:ext cx="8382000" cy="341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2400"/>
              <a:buFont typeface="Gelasio SemiBold"/>
              <a:buNone/>
            </a:pPr>
            <a:r>
              <a:rPr b="0" i="0" lang="en-US" sz="2400" u="none" cap="none" strike="noStrike">
                <a:solidFill>
                  <a:srgbClr val="1B263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Seven requests, one pass, three states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381000" y="1017836"/>
            <a:ext cx="8381926" cy="14288"/>
          </a:xfrm>
          <a:prstGeom prst="roundRect">
            <a:avLst>
              <a:gd fmla="val 49998" name="adj"/>
            </a:avLst>
          </a:prstGeom>
          <a:solidFill>
            <a:srgbClr val="CEC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1"/>
          <p:cNvSpPr/>
          <p:nvPr/>
        </p:nvSpPr>
        <p:spPr>
          <a:xfrm>
            <a:off x="381000" y="1164282"/>
            <a:ext cx="4076700" cy="339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2500"/>
              <a:buFont typeface="Gelasio SemiBold"/>
              <a:buNone/>
            </a:pPr>
            <a:r>
              <a:rPr b="0" i="0" lang="en-US" sz="2500" u="none" cap="none" strike="noStrike">
                <a:solidFill>
                  <a:srgbClr val="1B263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381000" y="1613818"/>
            <a:ext cx="4076700" cy="645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dashboard report requests with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Promise.all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Sequential awaits would cost the sum of all seven. A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cancelled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flag prevents a late response setting state after unmount.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381000" y="2356991"/>
            <a:ext cx="4078224" cy="628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loading · skeleton sweeps left to right with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.shimmer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error · backend's own message is shown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empty · each panel has its own “no data yet” state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9" name="Google Shape;119;p11"/>
          <p:cNvGraphicFramePr/>
          <p:nvPr/>
        </p:nvGraphicFramePr>
        <p:xfrm>
          <a:off x="381000" y="3389757"/>
          <a:ext cx="3000000" cy="606775"/>
        </p:xfrm>
        <a:graphic>
          <a:graphicData uri="http://schemas.openxmlformats.org/drawingml/2006/table">
            <a:tbl>
              <a:tblPr>
                <a:noFill/>
                <a:tableStyleId>{587E152F-0472-42E3-A48F-8F4D75BD7B4F}</a:tableStyleId>
              </a:tblPr>
              <a:tblGrid>
                <a:gridCol w="4191000"/>
                <a:gridCol w="4191000"/>
              </a:tblGrid>
              <a:tr h="30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Dashboard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LIVE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Bookings · Job cards · Invoice · My garage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fixture data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" name="Google Shape;120;p11"/>
          <p:cNvSpPr/>
          <p:nvPr/>
        </p:nvSpPr>
        <p:spPr>
          <a:xfrm>
            <a:off x="381000" y="4212717"/>
            <a:ext cx="838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The other four need new endpoints first: job-card list, invoice reads, a customer's own vehicles, and bookings enriched with registration number and customer name.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1"/>
          <p:cNvSpPr/>
          <p:nvPr/>
        </p:nvSpPr>
        <p:spPr>
          <a:xfrm>
            <a:off x="0" y="4857750"/>
            <a:ext cx="9144000" cy="7144"/>
          </a:xfrm>
          <a:prstGeom prst="rect">
            <a:avLst/>
          </a:prstGeom>
          <a:solidFill>
            <a:srgbClr val="2F343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"/>
          <p:cNvSpPr/>
          <p:nvPr/>
        </p:nvSpPr>
        <p:spPr>
          <a:xfrm>
            <a:off x="3419698" y="4938192"/>
            <a:ext cx="2761804" cy="12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700"/>
              <a:buFont typeface="Inter Tight"/>
              <a:buNone/>
            </a:pPr>
            <a:r>
              <a:rPr b="0" i="0" lang="en-US" sz="7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REVIEW 1 WAS THE DESIGN. THIS IS THE BUILD.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8708678" y="4938192"/>
            <a:ext cx="435322" cy="12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700"/>
              <a:buFont typeface="Inter Tight"/>
              <a:buNone/>
            </a:pPr>
            <a:r>
              <a:rPr b="0" i="0" lang="en-US" sz="7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7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Picture 123" descr="s07-dashboard-liv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1161288"/>
            <a:ext cx="4078224" cy="1954149"/>
          </a:xfrm>
          <a:prstGeom prst="rect">
            <a:avLst/>
          </a:prstGeom>
          <a:ln w="9525">
            <a:solidFill>
              <a:srgbClr val="8B6A4E"/>
            </a:solidFill>
          </a:ln>
        </p:spPr>
      </p:pic>
      <p:sp>
        <p:nvSpPr>
          <p:cNvPr id="111" name="screenshot caption"/>
          <p:cNvSpPr/>
          <p:nvPr/>
        </p:nvSpPr>
        <p:spPr>
          <a:xfrm>
            <a:off x="4681728" y="3170301"/>
            <a:ext cx="4078224" cy="1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700"/>
              <a:buFont typeface="Inter Tight SemiBold"/>
              <a:buNone/>
            </a:pPr>
            <a:r>
              <a:rPr b="0" i="0" lang="en-US" sz="700" u="none" cap="none" strike="noStrike">
                <a:solidFill>
                  <a:srgbClr val="1B2638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SIGNED IN AS MANAGER · EVERY FIGURE COMES FROM THE SEEDED DATABASE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/>
          <p:nvPr/>
        </p:nvSpPr>
        <p:spPr>
          <a:xfrm>
            <a:off x="381000" y="381000"/>
            <a:ext cx="8763000" cy="1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700"/>
              <a:buFont typeface="Inter Tight SemiBold"/>
              <a:buNone/>
            </a:pPr>
            <a:r>
              <a:rPr b="0" i="0" lang="en-US" sz="700" u="none" cap="none" strike="noStrike">
                <a:solidFill>
                  <a:srgbClr val="1B2638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THE BACKEND, BRIEFLY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381000" y="532433"/>
            <a:ext cx="8382000" cy="341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2400"/>
              <a:buFont typeface="Gelasio SemiBold"/>
              <a:buNone/>
            </a:pPr>
            <a:r>
              <a:rPr b="0" i="0" lang="en-US" sz="2400" u="none" cap="none" strike="noStrike">
                <a:solidFill>
                  <a:srgbClr val="1B263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Correctness lives below the interface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381000" y="1017836"/>
            <a:ext cx="8381926" cy="14288"/>
          </a:xfrm>
          <a:prstGeom prst="roundRect">
            <a:avLst>
              <a:gd fmla="val 49998" name="adj"/>
            </a:avLst>
          </a:prstGeom>
          <a:solidFill>
            <a:srgbClr val="CEC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2"/>
          <p:cNvSpPr/>
          <p:nvPr/>
        </p:nvSpPr>
        <p:spPr>
          <a:xfrm>
            <a:off x="381000" y="1164282"/>
            <a:ext cx="8382000" cy="6693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FastAPI + MongoDB on a single-node replica set (required for transactions) · 12 collections · 245 seeded documents · 33 endpoints · 28 tests passing, including a concurrent race for the last unit of stock.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75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13-entity conceptual diagram → 14-table physical one.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3" name="Google Shape;133;p12"/>
          <p:cNvGraphicFramePr/>
          <p:nvPr/>
        </p:nvGraphicFramePr>
        <p:xfrm>
          <a:off x="381000" y="1931268"/>
          <a:ext cx="3000000" cy="1528850"/>
        </p:xfrm>
        <a:graphic>
          <a:graphicData uri="http://schemas.openxmlformats.org/drawingml/2006/table">
            <a:tbl>
              <a:tblPr>
                <a:noFill/>
                <a:tableStyleId>{587E152F-0472-42E3-A48F-8F4D75BD7B4F}</a:tableStyleId>
              </a:tblPr>
              <a:tblGrid>
                <a:gridCol w="4191000"/>
                <a:gridCol w="4191000"/>
              </a:tblGrid>
              <a:tr h="30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no overlapping mechanic assignment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409 · names the conflicting assignment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issue a part beyond stock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409 · quotes the SKU and stock on hand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invoice carrying a client </a:t>
                      </a: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total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422 · field rejected; totals are computed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report with no token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401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user list as a receptionist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F343B"/>
                        </a:buClr>
                        <a:buSzPts val="1100"/>
                        <a:buFont typeface="Inter Tight"/>
                        <a:buNone/>
                      </a:pPr>
                      <a:r>
                        <a:rPr lang="en-US" sz="1100" u="none" cap="none" strike="noStrike">
                          <a:solidFill>
                            <a:srgbClr val="2F343B"/>
                          </a:solidFill>
                          <a:latin typeface="Inter Tight"/>
                          <a:ea typeface="Inter Tight"/>
                          <a:cs typeface="Inter Tight"/>
                          <a:sym typeface="Inter Tight"/>
                        </a:rPr>
                        <a:t>403</a:t>
                      </a:r>
                      <a:endParaRPr sz="1100" u="none" cap="none" strike="noStrike">
                        <a:latin typeface="Inter Tight"/>
                        <a:ea typeface="Inter Tight"/>
                        <a:cs typeface="Inter Tight"/>
                        <a:sym typeface="Inter Tight"/>
                      </a:endParaRPr>
                    </a:p>
                  </a:txBody>
                  <a:tcPr marT="55250" marB="55250" marR="103575" marL="103575" anchor="ctr">
                    <a:lnL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EC6B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6F3E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4" name="Google Shape;134;p12"/>
          <p:cNvSpPr/>
          <p:nvPr/>
        </p:nvSpPr>
        <p:spPr>
          <a:xfrm>
            <a:off x="381000" y="3557736"/>
            <a:ext cx="8763000" cy="190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All five matched on a fresh run. The UI must turn these into something actionable.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381000" y="3845942"/>
            <a:ext cx="8382000" cy="731193"/>
          </a:xfrm>
          <a:prstGeom prst="roundRect">
            <a:avLst>
              <a:gd fmla="val 1172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113" y="4040609"/>
            <a:ext cx="172641" cy="13811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2"/>
          <p:cNvSpPr/>
          <p:nvPr/>
        </p:nvSpPr>
        <p:spPr>
          <a:xfrm>
            <a:off x="829866" y="4018583"/>
            <a:ext cx="7795022" cy="3859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 Tight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The “part issue failed” toast is a SIMULATION driven by fixture stock, not the real API. The real 409 is shown through Swagger at </a:t>
            </a:r>
            <a:r>
              <a:rPr b="0" i="0" lang="en-US" sz="1100" u="none" cap="none" strike="noStrike">
                <a:solidFill>
                  <a:srgbClr val="000000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/docs</a:t>
            </a:r>
            <a:r>
              <a:rPr b="0" i="0" lang="en-US" sz="11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; wiring it into that screen is next.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2"/>
          <p:cNvSpPr/>
          <p:nvPr/>
        </p:nvSpPr>
        <p:spPr>
          <a:xfrm>
            <a:off x="0" y="4857750"/>
            <a:ext cx="9144000" cy="7144"/>
          </a:xfrm>
          <a:prstGeom prst="rect">
            <a:avLst/>
          </a:prstGeom>
          <a:solidFill>
            <a:srgbClr val="2F343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"/>
          <p:cNvSpPr/>
          <p:nvPr/>
        </p:nvSpPr>
        <p:spPr>
          <a:xfrm>
            <a:off x="3419698" y="4938192"/>
            <a:ext cx="2761804" cy="12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700"/>
              <a:buFont typeface="Inter Tight"/>
              <a:buNone/>
            </a:pPr>
            <a:r>
              <a:rPr b="0" i="0" lang="en-US" sz="7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REVIEW 1 WAS THE DESIGN. THIS IS THE BUILD.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8708678" y="4938192"/>
            <a:ext cx="435322" cy="12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700"/>
              <a:buFont typeface="Inter Tight"/>
              <a:buNone/>
            </a:pPr>
            <a:r>
              <a:rPr b="0" i="0" lang="en-US" sz="7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8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"/>
          <p:cNvSpPr/>
          <p:nvPr/>
        </p:nvSpPr>
        <p:spPr>
          <a:xfrm>
            <a:off x="381000" y="381000"/>
            <a:ext cx="8763000" cy="1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700"/>
              <a:buFont typeface="Inter Tight SemiBold"/>
              <a:buNone/>
            </a:pPr>
            <a:r>
              <a:rPr b="0" i="0" lang="en-US" sz="700" u="none" cap="none" strike="noStrike">
                <a:solidFill>
                  <a:srgbClr val="1B2638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WHAT YOU WILL SEE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3"/>
          <p:cNvSpPr/>
          <p:nvPr/>
        </p:nvSpPr>
        <p:spPr>
          <a:xfrm>
            <a:off x="381000" y="532433"/>
            <a:ext cx="8382000" cy="341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2400"/>
              <a:buFont typeface="Gelasio SemiBold"/>
              <a:buNone/>
            </a:pPr>
            <a:r>
              <a:rPr b="0" i="0" lang="en-US" sz="2400" u="none" cap="none" strike="noStrike">
                <a:solidFill>
                  <a:srgbClr val="1B263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A walk through the running app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/>
          <p:nvPr/>
        </p:nvSpPr>
        <p:spPr>
          <a:xfrm>
            <a:off x="381000" y="1017836"/>
            <a:ext cx="8381926" cy="14288"/>
          </a:xfrm>
          <a:prstGeom prst="roundRect">
            <a:avLst>
              <a:gd fmla="val 49998" name="adj"/>
            </a:avLst>
          </a:prstGeom>
          <a:solidFill>
            <a:srgbClr val="CEC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>
            <a:off x="381000" y="1164282"/>
            <a:ext cx="8382000" cy="1283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Landing page: smooth scroll, FAQ accordion, track-your-car form; it sends visitors to sign-in but does not yet use the number typed 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Sign in as customer: two navigation links only.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Type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/app/dashboard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directly: blocked, “not available to your role”.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Sign out, sign in as manager: five links and seven live dashboard requests.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Toggle dark mode: the whole shadow system inverts.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Open Swagger at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/docs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and send the overlapping assignment: 409.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381000" y="2523744"/>
            <a:ext cx="8763000" cy="195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Four demo logins, one per role, all password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autocare123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, click-to-fill: manager · receptionist · mechanic · customer.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3"/>
          <p:cNvSpPr/>
          <p:nvPr/>
        </p:nvSpPr>
        <p:spPr>
          <a:xfrm>
            <a:off x="0" y="4857750"/>
            <a:ext cx="9144000" cy="7144"/>
          </a:xfrm>
          <a:prstGeom prst="rect">
            <a:avLst/>
          </a:prstGeom>
          <a:solidFill>
            <a:srgbClr val="2F343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3"/>
          <p:cNvSpPr/>
          <p:nvPr/>
        </p:nvSpPr>
        <p:spPr>
          <a:xfrm>
            <a:off x="3419698" y="4938192"/>
            <a:ext cx="2761804" cy="12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700"/>
              <a:buFont typeface="Inter Tight"/>
              <a:buNone/>
            </a:pPr>
            <a:r>
              <a:rPr b="0" i="0" lang="en-US" sz="7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REVIEW 1 WAS THE DESIGN. THIS IS THE BUILD.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8708678" y="4938192"/>
            <a:ext cx="435322" cy="12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700"/>
              <a:buFont typeface="Inter Tight"/>
              <a:buNone/>
            </a:pPr>
            <a:r>
              <a:rPr b="0" i="0" lang="en-US" sz="7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9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Picture 157" descr="s09-customer-na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852928"/>
            <a:ext cx="3986421" cy="1572768"/>
          </a:xfrm>
          <a:prstGeom prst="rect">
            <a:avLst/>
          </a:prstGeom>
          <a:ln w="9525">
            <a:solidFill>
              <a:srgbClr val="8B6A4E"/>
            </a:solidFill>
          </a:ln>
        </p:spPr>
      </p:pic>
      <p:pic>
        <p:nvPicPr>
          <p:cNvPr id="159" name="Picture 158" descr="s09-swagger-40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852928"/>
            <a:ext cx="3051898" cy="1572768"/>
          </a:xfrm>
          <a:prstGeom prst="rect">
            <a:avLst/>
          </a:prstGeom>
          <a:ln w="9525">
            <a:solidFill>
              <a:srgbClr val="8B6A4E"/>
            </a:solidFill>
          </a:ln>
        </p:spPr>
      </p:pic>
      <p:sp>
        <p:nvSpPr>
          <p:cNvPr id="146" name="screenshot caption"/>
          <p:cNvSpPr/>
          <p:nvPr/>
        </p:nvSpPr>
        <p:spPr>
          <a:xfrm>
            <a:off x="384048" y="4498848"/>
            <a:ext cx="4078224" cy="1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700"/>
              <a:buFont typeface="Inter Tight SemiBold"/>
              <a:buNone/>
            </a:pPr>
            <a:r>
              <a:rPr b="0" i="0" lang="en-US" sz="700" u="none" cap="none" strike="noStrike">
                <a:solidFill>
                  <a:srgbClr val="1B2638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STEP 2 · A CUSTOMER GETS TWO LINKS: MY GARAGE, INVOICE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screenshot caption"/>
          <p:cNvSpPr/>
          <p:nvPr/>
        </p:nvSpPr>
        <p:spPr>
          <a:xfrm>
            <a:off x="4681728" y="4498848"/>
            <a:ext cx="4078224" cy="1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700"/>
              <a:buFont typeface="Inter Tight SemiBold"/>
              <a:buNone/>
            </a:pPr>
            <a:r>
              <a:rPr b="0" i="0" lang="en-US" sz="700" u="none" cap="none" strike="noStrike">
                <a:solidFill>
                  <a:srgbClr val="1B2638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STEP 6 · REAL 409 FROM THE API · NOTHING IS WRITTEN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"/>
          <p:cNvSpPr/>
          <p:nvPr/>
        </p:nvSpPr>
        <p:spPr>
          <a:xfrm>
            <a:off x="381000" y="381000"/>
            <a:ext cx="8763000" cy="108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700"/>
              <a:buFont typeface="Inter Tight SemiBold"/>
              <a:buNone/>
            </a:pPr>
            <a:r>
              <a:rPr b="0" i="0" lang="en-US" sz="700" u="none" cap="none" strike="noStrike">
                <a:solidFill>
                  <a:srgbClr val="1B2638"/>
                </a:solidFill>
                <a:latin typeface="Inter Tight SemiBold"/>
                <a:ea typeface="Inter Tight SemiBold"/>
                <a:cs typeface="Inter Tight SemiBold"/>
                <a:sym typeface="Inter Tight SemiBold"/>
              </a:rPr>
              <a:t>STATUS · REVIEW 3 AHEAD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381000" y="532433"/>
            <a:ext cx="8382000" cy="341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2400"/>
              <a:buFont typeface="Gelasio SemiBold"/>
              <a:buNone/>
            </a:pPr>
            <a:r>
              <a:rPr b="0" i="0" lang="en-US" sz="2400" u="none" cap="none" strike="noStrike">
                <a:solidFill>
                  <a:srgbClr val="1B263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Three real bugs, and an honest list of gaps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381000" y="1017836"/>
            <a:ext cx="8381926" cy="14288"/>
          </a:xfrm>
          <a:prstGeom prst="roundRect">
            <a:avLst>
              <a:gd fmla="val 49998" name="adj"/>
            </a:avLst>
          </a:prstGeom>
          <a:solidFill>
            <a:srgbClr val="CEC6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4"/>
          <p:cNvSpPr/>
          <p:nvPr/>
        </p:nvSpPr>
        <p:spPr>
          <a:xfrm>
            <a:off x="381000" y="1164282"/>
            <a:ext cx="4076700" cy="217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1400"/>
              <a:buFont typeface="Gelasio SemiBold"/>
              <a:buNone/>
            </a:pPr>
            <a:r>
              <a:rPr b="0" i="0" lang="en-US" sz="1400" u="none" cap="none" strike="noStrike">
                <a:solidFill>
                  <a:srgbClr val="1B263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BUG 1 — animation blocked a state transition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381000" y="1460004"/>
            <a:ext cx="4076700" cy="76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AnimatePresence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with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mode="wait"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held the next component until the previous exit finished; Pay left the form indefinitely. Fix: plain conditional. Lesson: never gate a transition behind animation finishing.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"/>
          <p:cNvSpPr/>
          <p:nvPr/>
        </p:nvSpPr>
        <p:spPr>
          <a:xfrm>
            <a:off x="381000" y="2324695"/>
            <a:ext cx="4076700" cy="217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1400"/>
              <a:buFont typeface="Gelasio SemiBold"/>
              <a:buNone/>
            </a:pPr>
            <a:r>
              <a:rPr b="0" i="0" lang="en-US" sz="1400" u="none" cap="none" strike="noStrike">
                <a:solidFill>
                  <a:srgbClr val="1B263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BUG 2 — an effect that could never fire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"/>
          <p:cNvSpPr/>
          <p:nvPr/>
        </p:nvSpPr>
        <p:spPr>
          <a:xfrm>
            <a:off x="381000" y="2620417"/>
            <a:ext cx="4076700" cy="390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useEffect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synced props into state, but parent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key={id}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remounted it. Fix: deleted. Lesson: </a:t>
            </a: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key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already resets state.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4686300" y="1164282"/>
            <a:ext cx="4076700" cy="2036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4 of 5 screens still use fixture 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No frontend tests: no Vitest, no Testing Library; backend has 28.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JS bundle 533 kB (166 kB gzipped), over Vite's 500 kB warning; no code-splitting.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10 lint warnings, none breaking.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Accessibility: contrast tokens recalculated and &lt;main&gt; added; Lighthouse 100 on landing and sign-in. Signed-in screens not yet audited.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3520" lvl="0" marL="22352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Char char="•"/>
            </a:pP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Landing figures “12,400+ services” and “4.8 / 5” are placeholder marketing copy; track-your-car discards the registration number.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4"/>
          <p:cNvSpPr/>
          <p:nvPr/>
        </p:nvSpPr>
        <p:spPr>
          <a:xfrm>
            <a:off x="4686300" y="3265289"/>
            <a:ext cx="4076700" cy="5717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Inter Tight"/>
              <a:buNone/>
            </a:pPr>
            <a:r>
              <a:rPr b="1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Review 3:</a:t>
            </a:r>
            <a:r>
              <a:rPr b="0" i="0" lang="en-US" sz="11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 wire four screens; build vehicle-registration, mechanic-assignment and parts screens; add route-level code splitting; test auth guard and reports hook.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381000" y="3934644"/>
            <a:ext cx="8382000" cy="535856"/>
          </a:xfrm>
          <a:prstGeom prst="roundRect">
            <a:avLst>
              <a:gd fmla="val 1600" name="adj"/>
            </a:avLst>
          </a:prstGeom>
          <a:solidFill>
            <a:srgbClr val="F4D7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3" name="Google Shape;17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113" y="4129311"/>
            <a:ext cx="172641" cy="13811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4"/>
          <p:cNvSpPr/>
          <p:nvPr/>
        </p:nvSpPr>
        <p:spPr>
          <a:xfrm>
            <a:off x="829866" y="4107284"/>
            <a:ext cx="8252222" cy="190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 Tight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Inter Tight"/>
                <a:ea typeface="Inter Tight"/>
                <a:cs typeface="Inter Tight"/>
                <a:sym typeface="Inter Tight"/>
              </a:rPr>
              <a:t>Please test whether each role, and each customer, sees only what is theirs: in the interface and directly against the API.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4"/>
          <p:cNvSpPr/>
          <p:nvPr/>
        </p:nvSpPr>
        <p:spPr>
          <a:xfrm>
            <a:off x="0" y="4857750"/>
            <a:ext cx="9144000" cy="7144"/>
          </a:xfrm>
          <a:prstGeom prst="rect">
            <a:avLst/>
          </a:prstGeom>
          <a:solidFill>
            <a:srgbClr val="2F343B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"/>
          <p:cNvSpPr/>
          <p:nvPr/>
        </p:nvSpPr>
        <p:spPr>
          <a:xfrm>
            <a:off x="3419698" y="4938192"/>
            <a:ext cx="2761804" cy="12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700"/>
              <a:buFont typeface="Inter Tight"/>
              <a:buNone/>
            </a:pPr>
            <a:r>
              <a:rPr b="0" i="0" lang="en-US" sz="7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REVIEW 1 WAS THE DESIGN. THIS IS THE BUILD.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4"/>
          <p:cNvSpPr/>
          <p:nvPr/>
        </p:nvSpPr>
        <p:spPr>
          <a:xfrm>
            <a:off x="8654355" y="4938192"/>
            <a:ext cx="489645" cy="124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700"/>
              <a:buFont typeface="Inter Tight"/>
              <a:buNone/>
            </a:pPr>
            <a:r>
              <a:rPr b="0" i="0" lang="en-US" sz="700" u="none" cap="none" strike="noStrike">
                <a:solidFill>
                  <a:srgbClr val="2F343B"/>
                </a:solidFill>
                <a:latin typeface="Inter Tight"/>
                <a:ea typeface="Inter Tight"/>
                <a:cs typeface="Inter Tight"/>
                <a:sym typeface="Inter Tight"/>
              </a:rPr>
              <a:t>10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4 copy"/>
          <p:cNvSpPr/>
          <p:nvPr/>
        </p:nvSpPr>
        <p:spPr>
          <a:xfrm>
            <a:off x="381000" y="3044952"/>
            <a:ext cx="4076700" cy="2171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2638"/>
              </a:buClr>
              <a:buSzPts val="1400"/>
              <a:buFont typeface="Gelasio SemiBold"/>
              <a:buNone/>
            </a:pPr>
            <a:r>
              <a:rPr b="0" i="0" lang="en-US" sz="1400" u="none" cap="none" strike="noStrike">
                <a:solidFill>
                  <a:srgbClr val="1B2638"/>
                </a:solidFill>
                <a:latin typeface="Gelasio SemiBold"/>
                <a:ea typeface="Gelasio SemiBold"/>
                <a:cs typeface="Gelasio SemiBold"/>
                <a:sym typeface="Gelasio SemiBold"/>
              </a:rPr>
              <a:t>BUG 3 — role checked, ownership not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4 copy"/>
          <p:cNvSpPr/>
          <p:nvPr/>
        </p:nvSpPr>
        <p:spPr>
          <a:xfrm>
            <a:off x="381000" y="3328416"/>
            <a:ext cx="4076700" cy="390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343B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2F343B"/>
                </a:solidFill>
                <a:highlight>
                  <a:srgbClr val="E9E3D6"/>
                </a:highlight>
                <a:latin typeface="Consolas"/>
                <a:ea typeface="Consolas"/>
                <a:cs typeface="Consolas"/>
                <a:sym typeface="Consolas"/>
              </a:rPr>
              <a:t>Any customer could read anyone's job card. Fix: check the owner; not yours → 404, same as missing. Lesson: a role is not a permission.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